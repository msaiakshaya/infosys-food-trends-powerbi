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97" r:id="rId6"/>
    <p:sldId id="299" r:id="rId7"/>
    <p:sldId id="298" r:id="rId8"/>
    <p:sldId id="306" r:id="rId9"/>
    <p:sldId id="307" r:id="rId10"/>
    <p:sldId id="305" r:id="rId11"/>
    <p:sldId id="300" r:id="rId12"/>
    <p:sldId id="301" r:id="rId13"/>
    <p:sldId id="302" r:id="rId14"/>
    <p:sldId id="303" r:id="rId15"/>
    <p:sldId id="304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D753757-F2C3-436A-9BBE-1DF818A85465}">
          <p14:sldIdLst>
            <p14:sldId id="256"/>
            <p14:sldId id="297"/>
            <p14:sldId id="299"/>
            <p14:sldId id="298"/>
            <p14:sldId id="306"/>
            <p14:sldId id="307"/>
            <p14:sldId id="305"/>
            <p14:sldId id="300"/>
            <p14:sldId id="301"/>
            <p14:sldId id="302"/>
            <p14:sldId id="303"/>
            <p14:sldId id="304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B136F1-621B-47AB-A744-112C0BB345B8}" v="4" dt="2026-02-16T17:39:33.61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kshaya" userId="603ccea481f91d27" providerId="LiveId" clId="{943D2AFA-73FD-4F8D-814C-9A9F2643FEA4}"/>
    <pc:docChg chg="undo custSel addSld modSld sldOrd modSection">
      <pc:chgData name="MS Akshaya" userId="603ccea481f91d27" providerId="LiveId" clId="{943D2AFA-73FD-4F8D-814C-9A9F2643FEA4}" dt="2026-02-16T17:55:30.923" v="109" actId="14100"/>
      <pc:docMkLst>
        <pc:docMk/>
      </pc:docMkLst>
      <pc:sldChg chg="modSp mod">
        <pc:chgData name="MS Akshaya" userId="603ccea481f91d27" providerId="LiveId" clId="{943D2AFA-73FD-4F8D-814C-9A9F2643FEA4}" dt="2026-02-16T17:43:45.414" v="79" actId="20577"/>
        <pc:sldMkLst>
          <pc:docMk/>
          <pc:sldMk cId="2259308896" sldId="256"/>
        </pc:sldMkLst>
        <pc:spChg chg="mod">
          <ac:chgData name="MS Akshaya" userId="603ccea481f91d27" providerId="LiveId" clId="{943D2AFA-73FD-4F8D-814C-9A9F2643FEA4}" dt="2026-02-16T17:43:45.414" v="79" actId="20577"/>
          <ac:spMkLst>
            <pc:docMk/>
            <pc:sldMk cId="2259308896" sldId="256"/>
            <ac:spMk id="4" creationId="{F2E47030-DB60-3C0D-FFC1-18332BBF05E1}"/>
          </ac:spMkLst>
        </pc:spChg>
      </pc:sldChg>
      <pc:sldChg chg="ord">
        <pc:chgData name="MS Akshaya" userId="603ccea481f91d27" providerId="LiveId" clId="{943D2AFA-73FD-4F8D-814C-9A9F2643FEA4}" dt="2026-02-16T17:23:22.311" v="9"/>
        <pc:sldMkLst>
          <pc:docMk/>
          <pc:sldMk cId="57139488" sldId="299"/>
        </pc:sldMkLst>
      </pc:sldChg>
      <pc:sldChg chg="modSp mod">
        <pc:chgData name="MS Akshaya" userId="603ccea481f91d27" providerId="LiveId" clId="{943D2AFA-73FD-4F8D-814C-9A9F2643FEA4}" dt="2026-02-14T14:15:52.502" v="7" actId="20577"/>
        <pc:sldMkLst>
          <pc:docMk/>
          <pc:sldMk cId="2327672111" sldId="300"/>
        </pc:sldMkLst>
        <pc:spChg chg="mod">
          <ac:chgData name="MS Akshaya" userId="603ccea481f91d27" providerId="LiveId" clId="{943D2AFA-73FD-4F8D-814C-9A9F2643FEA4}" dt="2026-02-14T14:15:52.502" v="7" actId="20577"/>
          <ac:spMkLst>
            <pc:docMk/>
            <pc:sldMk cId="2327672111" sldId="300"/>
            <ac:spMk id="3" creationId="{08D336F1-5C15-EDCE-49DB-9E4B6882C0DC}"/>
          </ac:spMkLst>
        </pc:spChg>
      </pc:sldChg>
      <pc:sldChg chg="addSp delSp modSp new mod">
        <pc:chgData name="MS Akshaya" userId="603ccea481f91d27" providerId="LiveId" clId="{943D2AFA-73FD-4F8D-814C-9A9F2643FEA4}" dt="2026-02-16T17:55:30.923" v="109" actId="14100"/>
        <pc:sldMkLst>
          <pc:docMk/>
          <pc:sldMk cId="2065634499" sldId="305"/>
        </pc:sldMkLst>
        <pc:spChg chg="del">
          <ac:chgData name="MS Akshaya" userId="603ccea481f91d27" providerId="LiveId" clId="{943D2AFA-73FD-4F8D-814C-9A9F2643FEA4}" dt="2026-02-16T17:23:30.760" v="12" actId="478"/>
          <ac:spMkLst>
            <pc:docMk/>
            <pc:sldMk cId="2065634499" sldId="305"/>
            <ac:spMk id="2" creationId="{C317BE0B-6249-0AB4-6A66-60A16783383D}"/>
          </ac:spMkLst>
        </pc:spChg>
        <pc:spChg chg="del">
          <ac:chgData name="MS Akshaya" userId="603ccea481f91d27" providerId="LiveId" clId="{943D2AFA-73FD-4F8D-814C-9A9F2643FEA4}" dt="2026-02-16T17:23:28.357" v="11" actId="478"/>
          <ac:spMkLst>
            <pc:docMk/>
            <pc:sldMk cId="2065634499" sldId="305"/>
            <ac:spMk id="3" creationId="{DCE85742-BDEC-F013-2205-36729A93463F}"/>
          </ac:spMkLst>
        </pc:spChg>
        <pc:spChg chg="add mod">
          <ac:chgData name="MS Akshaya" userId="603ccea481f91d27" providerId="LiveId" clId="{943D2AFA-73FD-4F8D-814C-9A9F2643FEA4}" dt="2026-02-16T17:28:26.372" v="43" actId="113"/>
          <ac:spMkLst>
            <pc:docMk/>
            <pc:sldMk cId="2065634499" sldId="305"/>
            <ac:spMk id="6" creationId="{29BECB81-E8A9-DE8C-9231-D279D2079644}"/>
          </ac:spMkLst>
        </pc:spChg>
        <pc:picChg chg="add mod modCrop">
          <ac:chgData name="MS Akshaya" userId="603ccea481f91d27" providerId="LiveId" clId="{943D2AFA-73FD-4F8D-814C-9A9F2643FEA4}" dt="2026-02-16T17:55:30.923" v="109" actId="14100"/>
          <ac:picMkLst>
            <pc:docMk/>
            <pc:sldMk cId="2065634499" sldId="305"/>
            <ac:picMk id="3" creationId="{9598904F-EAF9-D7A2-E54B-BCE0C9B3E909}"/>
          </ac:picMkLst>
        </pc:picChg>
        <pc:picChg chg="add del mod">
          <ac:chgData name="MS Akshaya" userId="603ccea481f91d27" providerId="LiveId" clId="{943D2AFA-73FD-4F8D-814C-9A9F2643FEA4}" dt="2026-02-16T17:39:17.168" v="51" actId="478"/>
          <ac:picMkLst>
            <pc:docMk/>
            <pc:sldMk cId="2065634499" sldId="305"/>
            <ac:picMk id="5" creationId="{86888CA6-B123-8641-FFBF-7629666E76B6}"/>
          </ac:picMkLst>
        </pc:picChg>
        <pc:picChg chg="add del mod">
          <ac:chgData name="MS Akshaya" userId="603ccea481f91d27" providerId="LiveId" clId="{943D2AFA-73FD-4F8D-814C-9A9F2643FEA4}" dt="2026-02-16T17:39:19.375" v="53" actId="478"/>
          <ac:picMkLst>
            <pc:docMk/>
            <pc:sldMk cId="2065634499" sldId="305"/>
            <ac:picMk id="7" creationId="{C4A2D82D-1915-4AC9-1F40-6D0AA03C1B48}"/>
          </ac:picMkLst>
        </pc:picChg>
        <pc:picChg chg="add del mod">
          <ac:chgData name="MS Akshaya" userId="603ccea481f91d27" providerId="LiveId" clId="{943D2AFA-73FD-4F8D-814C-9A9F2643FEA4}" dt="2026-02-16T17:39:35.192" v="55" actId="478"/>
          <ac:picMkLst>
            <pc:docMk/>
            <pc:sldMk cId="2065634499" sldId="305"/>
            <ac:picMk id="8" creationId="{30AF2D89-3616-666F-DC50-43F10278CAD3}"/>
          </ac:picMkLst>
        </pc:picChg>
        <pc:picChg chg="add del mod">
          <ac:chgData name="MS Akshaya" userId="603ccea481f91d27" providerId="LiveId" clId="{943D2AFA-73FD-4F8D-814C-9A9F2643FEA4}" dt="2026-02-16T17:40:35.443" v="57" actId="478"/>
          <ac:picMkLst>
            <pc:docMk/>
            <pc:sldMk cId="2065634499" sldId="305"/>
            <ac:picMk id="10" creationId="{3F283430-ED0A-888C-7064-8A7CAB860A2E}"/>
          </ac:picMkLst>
        </pc:picChg>
        <pc:picChg chg="add del mod">
          <ac:chgData name="MS Akshaya" userId="603ccea481f91d27" providerId="LiveId" clId="{943D2AFA-73FD-4F8D-814C-9A9F2643FEA4}" dt="2026-02-16T17:41:36.653" v="64" actId="478"/>
          <ac:picMkLst>
            <pc:docMk/>
            <pc:sldMk cId="2065634499" sldId="305"/>
            <ac:picMk id="12" creationId="{4E569461-13BB-DA4F-0C64-B11094E0BABD}"/>
          </ac:picMkLst>
        </pc:picChg>
        <pc:picChg chg="add del mod">
          <ac:chgData name="MS Akshaya" userId="603ccea481f91d27" providerId="LiveId" clId="{943D2AFA-73FD-4F8D-814C-9A9F2643FEA4}" dt="2026-02-16T17:51:08.575" v="80" actId="478"/>
          <ac:picMkLst>
            <pc:docMk/>
            <pc:sldMk cId="2065634499" sldId="305"/>
            <ac:picMk id="14" creationId="{6F9AC738-0E58-0921-1409-B2E6FB8C2DA8}"/>
          </ac:picMkLst>
        </pc:picChg>
        <pc:picChg chg="add del">
          <ac:chgData name="MS Akshaya" userId="603ccea481f91d27" providerId="LiveId" clId="{943D2AFA-73FD-4F8D-814C-9A9F2643FEA4}" dt="2026-02-16T17:41:49.834" v="68" actId="478"/>
          <ac:picMkLst>
            <pc:docMk/>
            <pc:sldMk cId="2065634499" sldId="305"/>
            <ac:picMk id="16" creationId="{86DB9D55-5DCD-9739-75B0-73E924320836}"/>
          </ac:picMkLst>
        </pc:picChg>
        <pc:picChg chg="add del mod modCrop">
          <ac:chgData name="MS Akshaya" userId="603ccea481f91d27" providerId="LiveId" clId="{943D2AFA-73FD-4F8D-814C-9A9F2643FEA4}" dt="2026-02-16T17:54:37.744" v="98" actId="478"/>
          <ac:picMkLst>
            <pc:docMk/>
            <pc:sldMk cId="2065634499" sldId="305"/>
            <ac:picMk id="18" creationId="{ED7D658B-F9BB-6B58-5E18-E9724FF0B3D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3/3/2026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870" y="1497392"/>
            <a:ext cx="9779183" cy="1305662"/>
          </a:xfrm>
        </p:spPr>
        <p:txBody>
          <a:bodyPr/>
          <a:lstStyle/>
          <a:p>
            <a:pPr algn="ctr"/>
            <a:r>
              <a:rPr lang="en-US" dirty="0"/>
              <a:t>Food Trend Understanding </a:t>
            </a:r>
            <a:br>
              <a:rPr lang="en-US" dirty="0"/>
            </a:br>
            <a:r>
              <a:rPr lang="en-US" dirty="0"/>
              <a:t>Customer Preferences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E094-FCA5-7C4F-F371-84A4FC3CA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522" y="3026308"/>
            <a:ext cx="9596955" cy="3366815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Mentor: </a:t>
            </a:r>
            <a:r>
              <a:rPr lang="en-US" dirty="0"/>
              <a:t>Ms. Nityasree	</a:t>
            </a:r>
          </a:p>
          <a:p>
            <a:pPr algn="just"/>
            <a:r>
              <a:rPr lang="en-US" b="1" dirty="0"/>
              <a:t>Team Members: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Vasanthi Kakkera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Flemin P Daniel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M S Akshaya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E47030-DB60-3C0D-FFC1-18332BBF05E1}"/>
              </a:ext>
            </a:extLst>
          </p:cNvPr>
          <p:cNvSpPr txBox="1">
            <a:spLocks/>
          </p:cNvSpPr>
          <p:nvPr/>
        </p:nvSpPr>
        <p:spPr>
          <a:xfrm>
            <a:off x="1099870" y="191730"/>
            <a:ext cx="9779183" cy="13056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dirty="0">
                <a:solidFill>
                  <a:schemeClr val="accent1"/>
                </a:solidFill>
              </a:rPr>
              <a:t>Infosys Springboard Data Visualization Domain Internship Batch – 11(Group 1)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02F5D-D47B-EFE5-C25C-83DAF0F9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&amp; Project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AB015-C730-C819-7EC6-B6CF1079C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17685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Objective:</a:t>
            </a:r>
            <a:r>
              <a:rPr lang="en-US" sz="2000" dirty="0"/>
              <a:t> To design an interactive multi-page </a:t>
            </a:r>
            <a:r>
              <a:rPr lang="en-US" sz="2000" dirty="0" err="1"/>
              <a:t>PowerBI</a:t>
            </a:r>
            <a:r>
              <a:rPr lang="en-US" sz="2000" dirty="0"/>
              <a:t> dashboard that provides actionable insights into restaurant performance, customer </a:t>
            </a:r>
            <a:r>
              <a:rPr lang="en-US" sz="2000" dirty="0" err="1"/>
              <a:t>behaviour</a:t>
            </a:r>
            <a:r>
              <a:rPr lang="en-US" sz="2000" dirty="0"/>
              <a:t>, and ordering trends.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/>
              <a:t>Description:</a:t>
            </a:r>
            <a:r>
              <a:rPr lang="en-US" sz="2000" dirty="0"/>
              <a:t> This project analyses a vast dataset of food orders to help stakeholders identify high-performing cities, popular cuisines, and customer spending patterns. The dashboard is divided into </a:t>
            </a:r>
            <a:r>
              <a:rPr lang="en-US" sz="2000" dirty="0" err="1"/>
              <a:t>specialised</a:t>
            </a:r>
            <a:r>
              <a:rPr lang="en-US" sz="2000" dirty="0"/>
              <a:t> views: Business Overview, Customer Analysis, Restaurant Performance, and Menu Trends.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9816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83D8-EED5-10C1-116E-E223173C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105DD-1A60-0ADC-3C11-5E521FD86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066683" cy="431450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/>
              <a:t>Source: </a:t>
            </a:r>
            <a:r>
              <a:rPr lang="en-IN" sz="2000" dirty="0"/>
              <a:t>Kaggle (Public Food Industry Dataset).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Volume: </a:t>
            </a:r>
            <a:r>
              <a:rPr lang="en-IN" sz="2000" dirty="0"/>
              <a:t>1.47 Lakh Total Orders across 12,117 Restaurants.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Revenue Analysed: </a:t>
            </a:r>
            <a:r>
              <a:rPr lang="en-IN" sz="2000" dirty="0"/>
              <a:t>Approximately ₹96.43 Crores.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Key Parameters: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Order IDs,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Restaurant ratings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Cuisine types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User demographics (Age/Gender)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Geographic data</a:t>
            </a:r>
          </a:p>
        </p:txBody>
      </p:sp>
    </p:spTree>
    <p:extLst>
      <p:ext uri="{BB962C8B-B14F-4D97-AF65-F5344CB8AC3E}">
        <p14:creationId xmlns:p14="http://schemas.microsoft.com/office/powerpoint/2010/main" val="57139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36B37-8A55-FFA4-E20F-29BC766DC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Execution Milestones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5FCD5-E1EF-C578-A381-515E3950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833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/>
              <a:t>Milestone 1: </a:t>
            </a:r>
            <a:r>
              <a:rPr lang="en-IN" sz="2000" dirty="0"/>
              <a:t>Data Infrastructure: Data cleaning, ETL processes, and schema transformation (Data Transformation pages).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2: </a:t>
            </a:r>
            <a:r>
              <a:rPr lang="en-IN" sz="2000" dirty="0"/>
              <a:t>Core Metrics: Development of the "Business Snapshot," "Customer Analysis," and "Restaurant Performance" views.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3: </a:t>
            </a:r>
            <a:r>
              <a:rPr lang="en-IN" sz="2000" dirty="0"/>
              <a:t>Product Analysis: Deep dive into menu items, pricing, and category performance.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/>
              <a:t>Milestone 4: </a:t>
            </a:r>
            <a:r>
              <a:rPr lang="en-IN" sz="2000" dirty="0"/>
              <a:t>Strategic Insights: Operational insights, demographics, and customer loyalty modelling.</a:t>
            </a:r>
          </a:p>
        </p:txBody>
      </p:sp>
    </p:spTree>
    <p:extLst>
      <p:ext uri="{BB962C8B-B14F-4D97-AF65-F5344CB8AC3E}">
        <p14:creationId xmlns:p14="http://schemas.microsoft.com/office/powerpoint/2010/main" val="22410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9E04A-C870-9490-7C26-4AF12F01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5" y="102021"/>
            <a:ext cx="6411974" cy="743553"/>
          </a:xfrm>
        </p:spPr>
        <p:txBody>
          <a:bodyPr/>
          <a:lstStyle/>
          <a:p>
            <a:r>
              <a:rPr lang="en-US" dirty="0"/>
              <a:t>Dashboard Snapshots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253A2-D09C-2C02-0B16-4711642A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87" y="1108773"/>
            <a:ext cx="4539132" cy="252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1D6568-86B6-8DE9-4EA6-C68866CAD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8773"/>
            <a:ext cx="4556443" cy="25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E0C903-85F5-3229-BBED-C4750A437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035" y="3901084"/>
            <a:ext cx="452186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675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CA84D1-A566-0381-BE00-782798A2C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351995"/>
            <a:ext cx="4501672" cy="25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C255D6-0964-556A-DCEA-4BA65B53C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866" y="351995"/>
            <a:ext cx="4550220" cy="25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9C9676-DA52-0407-8007-78041E184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08" y="3527814"/>
            <a:ext cx="4517275" cy="252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799189-58FB-6932-81D6-9A72FBE5E2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656" y="3527814"/>
            <a:ext cx="458943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5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BECB81-E8A9-DE8C-9231-D279D2079644}"/>
              </a:ext>
            </a:extLst>
          </p:cNvPr>
          <p:cNvSpPr txBox="1"/>
          <p:nvPr/>
        </p:nvSpPr>
        <p:spPr>
          <a:xfrm>
            <a:off x="1042219" y="137652"/>
            <a:ext cx="846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Project Workflow – Food Trends Analysis</a:t>
            </a:r>
            <a:endParaRPr lang="en-IN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98904F-EAF9-D7A2-E54B-BCE0C9B3E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0" t="7568" r="2622" b="4207"/>
          <a:stretch>
            <a:fillRect/>
          </a:stretch>
        </p:blipFill>
        <p:spPr>
          <a:xfrm>
            <a:off x="3067665" y="783983"/>
            <a:ext cx="4532670" cy="581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34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F29F-D24C-60BD-410A-567A2EE7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Faced &amp; Resolutions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336F1-5C15-EDCE-49DB-9E4B6882C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44004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</a:pPr>
            <a:r>
              <a:rPr lang="en-US" sz="2000" b="1" dirty="0"/>
              <a:t>Challenge 1: Data Inconsistency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 Resolution: </a:t>
            </a:r>
            <a:r>
              <a:rPr lang="en-US" sz="2000" dirty="0"/>
              <a:t>Used Power Query to handle null values in the "Veg/Non-Veg" fields and normalized currency formats.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Challenge 2: Visual Complexity.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Resolution: </a:t>
            </a:r>
            <a:r>
              <a:rPr lang="en-US" sz="2000" dirty="0"/>
              <a:t>Implemented Slicers (City, Cuisine, Marital Status) and Drill-throughs to keep the UI clean while allowing deep-dive analysis.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Challenge 3: Volatile Order Data.</a:t>
            </a:r>
          </a:p>
          <a:p>
            <a:pPr algn="just">
              <a:lnSpc>
                <a:spcPct val="110000"/>
              </a:lnSpc>
            </a:pPr>
            <a:r>
              <a:rPr lang="en-US" sz="2000" b="1" dirty="0"/>
              <a:t>Resolution: </a:t>
            </a:r>
            <a:r>
              <a:rPr lang="en-US" sz="2000" dirty="0"/>
              <a:t>Created an "Order Volatility Index"  to visualize seasonal fluctuations and peak periods.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7672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60E5-2BBB-F649-B35D-CF3FDB50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3" y="441438"/>
            <a:ext cx="9779183" cy="892707"/>
          </a:xfrm>
        </p:spPr>
        <p:txBody>
          <a:bodyPr/>
          <a:lstStyle/>
          <a:p>
            <a:r>
              <a:rPr lang="en-IN" dirty="0"/>
              <a:t> Key Insights: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97F88-EC7B-42E2-FA5D-D7D9DC6FC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3" y="1508238"/>
            <a:ext cx="9779182" cy="511480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Top Revenue Driver: </a:t>
            </a:r>
            <a:r>
              <a:rPr lang="en-US" sz="2000" dirty="0"/>
              <a:t>Delhi and Bangalore lead the market, with Delhi contributing over ₹105M.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Customer Persona: </a:t>
            </a:r>
            <a:r>
              <a:rPr lang="en-US" sz="2000" dirty="0"/>
              <a:t>The average customer is ~24 years old with a family size of 3, showing that Gen Z and young millennials are the primary market.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Peak Activity: </a:t>
            </a:r>
            <a:r>
              <a:rPr lang="en-US" sz="2000" dirty="0"/>
              <a:t>Friday is the highest-grossing day (34.5K orders), while Sunday surprisingly shows lower volume in this specific dataset.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Menu "Hero" Items: </a:t>
            </a:r>
            <a:r>
              <a:rPr lang="en-US" sz="2000" dirty="0"/>
              <a:t>While North Indian and Chinese are the leading cuisines, specific high-frequency items like Veg Pakora drive consistent volume, highlighting a preference for affordable, "snackable" comfort food.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Growth Trajectory: </a:t>
            </a:r>
            <a:r>
              <a:rPr lang="en-US" sz="2000" dirty="0"/>
              <a:t>Data from 2018–2020 shows a transition from rapid expansion to market stabilization, suggesting that future revenue growth will likely come from increasing order frequency among existing loyal users.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7996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E8A4-6D11-AC99-DE92-BFD06C77F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Feature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3C739-00B9-7C25-381C-7F1C98075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4383333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Product Trends: </a:t>
            </a:r>
            <a:r>
              <a:rPr lang="en-US" sz="2000" dirty="0"/>
              <a:t>"Veg Pakora" emerged as the most popular item, while "North Indian" and "Chinese" are the dominant cuisines by volume.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Feature Enhancements: </a:t>
            </a:r>
            <a:r>
              <a:rPr lang="en-US" sz="2000" dirty="0"/>
              <a:t>Advanced DAX: Used to calculate "Average Revenue per Day" and "Order Volatility.“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Interactive Mapping: </a:t>
            </a:r>
            <a:r>
              <a:rPr lang="en-US" sz="2000" dirty="0"/>
              <a:t>Integrated a global map to track restaurant density and ratings.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Loyalty Prediction: </a:t>
            </a:r>
            <a:r>
              <a:rPr lang="en-US" sz="2000" dirty="0"/>
              <a:t>Added a "Cuisine Ranking Over Time" chart to track shifting consumer tastes.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7588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86238-19D1-4D69-B432-8FF874EDF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27449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A8404-F7BB-7BF3-7618-78A30B056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916" y="1376516"/>
            <a:ext cx="9779182" cy="336681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dashboard successfully identifies that revenue is heavily concentrated in Tier 1 cities.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Businesses should focus marketing efforts on the 18-30 age demographic and optimize supply chains for high-volume weekends.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transition from 2018 to 2020 shows a stabilizing trend in order frequency, suggesting a maturing market.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analysis demonstrates that customer purchasing behavior is strongly influenced by pricing value and cuisine preferences, highlighting the importance of maintaining a balanced menu that meets both affordability and quality 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2749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8E94-C278-BD27-BD0C-508D04F9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Acknowledgments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2A982-220D-E2ED-30C1-B67AA016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4" y="2115790"/>
            <a:ext cx="9440310" cy="3366815"/>
          </a:xfrm>
        </p:spPr>
        <p:txBody>
          <a:bodyPr>
            <a:normAutofit fontScale="85000" lnSpcReduction="20000"/>
          </a:bodyPr>
          <a:lstStyle/>
          <a:p>
            <a:r>
              <a:rPr lang="en-US" sz="2000" dirty="0"/>
              <a:t>We would like to express our heartfelt gratitude to:</a:t>
            </a:r>
          </a:p>
          <a:p>
            <a:r>
              <a:rPr lang="en-US" sz="2000" dirty="0"/>
              <a:t>Infosys Springboard Team– for organizing this valuable internship opportunity.</a:t>
            </a:r>
          </a:p>
          <a:p>
            <a:r>
              <a:rPr lang="en-US" sz="2000" dirty="0"/>
              <a:t>Our Mentor– for her continuous support and feedback.</a:t>
            </a:r>
          </a:p>
          <a:p>
            <a:r>
              <a:rPr lang="en-US" sz="2000" dirty="0"/>
              <a:t>My Teammates – for collaboration, encouragement, and insights 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This internship has been a significant step in our professional growth and technical journey.</a:t>
            </a:r>
            <a:br>
              <a:rPr lang="en-US" sz="2000" dirty="0"/>
            </a:br>
            <a:endParaRPr lang="en-US" sz="2000" dirty="0"/>
          </a:p>
          <a:p>
            <a:br>
              <a:rPr lang="en-US" sz="2000" dirty="0"/>
            </a:br>
            <a:r>
              <a:rPr lang="en-US" sz="2000" dirty="0"/>
              <a:t>References:</a:t>
            </a:r>
          </a:p>
          <a:p>
            <a:r>
              <a:rPr lang="en-US" sz="2000" dirty="0"/>
              <a:t>Kaggle Zomato Dataset</a:t>
            </a:r>
          </a:p>
          <a:p>
            <a:r>
              <a:rPr lang="en-US" sz="2000" dirty="0"/>
              <a:t>Microsoft Power BI Documentation</a:t>
            </a:r>
          </a:p>
          <a:p>
            <a:r>
              <a:rPr lang="en-US" sz="2000" dirty="0"/>
              <a:t>Infosys Springboard Virtual Internship course materials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8882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6423" y="753994"/>
            <a:ext cx="6220278" cy="3262811"/>
          </a:xfrm>
        </p:spPr>
        <p:txBody>
          <a:bodyPr/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267</TotalTime>
  <Words>735</Words>
  <Application>Microsoft Office PowerPoint</Application>
  <PresentationFormat>Widescreen</PresentationFormat>
  <Paragraphs>62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Tenorite</vt:lpstr>
      <vt:lpstr>Custom</vt:lpstr>
      <vt:lpstr>Food Trend Understanding  Customer Preferences</vt:lpstr>
      <vt:lpstr>Objectives &amp; Project Description</vt:lpstr>
      <vt:lpstr> Dataset Overview</vt:lpstr>
      <vt:lpstr>Project Execution Milestones</vt:lpstr>
      <vt:lpstr>Dashboard Snapshots</vt:lpstr>
      <vt:lpstr>PowerPoint Presentation</vt:lpstr>
      <vt:lpstr>PowerPoint Presentation</vt:lpstr>
      <vt:lpstr>Challenges Faced &amp; Resolutions</vt:lpstr>
      <vt:lpstr> Key Insights:</vt:lpstr>
      <vt:lpstr> Feature Enhancements</vt:lpstr>
      <vt:lpstr>Conclusion</vt:lpstr>
      <vt:lpstr>Acknowledgments &amp; 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vasanthi kakkera</dc:creator>
  <cp:lastModifiedBy>Flemin Daniel</cp:lastModifiedBy>
  <cp:revision>11</cp:revision>
  <dcterms:created xsi:type="dcterms:W3CDTF">2026-02-07T12:51:57Z</dcterms:created>
  <dcterms:modified xsi:type="dcterms:W3CDTF">2026-03-03T12:27:13Z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